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5"/>
  </p:normalViewPr>
  <p:slideViewPr>
    <p:cSldViewPr snapToGrid="0">
      <p:cViewPr varScale="1">
        <p:scale>
          <a:sx n="90" d="100"/>
          <a:sy n="90" d="100"/>
        </p:scale>
        <p:origin x="23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1324-D8C3-46A4-B18D-F23E39CE2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Shopping Behaviour Analysis &amp; Customer Segmentation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F7F19-924D-4AD5-A885-7182D5A93A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RU" dirty="0"/>
              <a:t>Applied Data Science </a:t>
            </a:r>
          </a:p>
          <a:p>
            <a:r>
              <a:rPr lang="en-RU" dirty="0"/>
              <a:t>Assignment 2</a:t>
            </a:r>
          </a:p>
          <a:p>
            <a:r>
              <a:rPr lang="en-RU" dirty="0"/>
              <a:t>Student ID: 5938ZKUW</a:t>
            </a:r>
          </a:p>
        </p:txBody>
      </p:sp>
    </p:spTree>
    <p:extLst>
      <p:ext uri="{BB962C8B-B14F-4D97-AF65-F5344CB8AC3E}">
        <p14:creationId xmlns:p14="http://schemas.microsoft.com/office/powerpoint/2010/main" val="206696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524E1-4B3A-63DC-88DC-CF3ACC48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GB"/>
              <a:t>Project Overview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8DBF-B11A-30FD-9F8A-2099E3B5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404040"/>
                </a:solidFill>
              </a:rPr>
              <a:t>Goal:  Analyse customer shopping behaviour, visualize trends, and identify customer groups using K-Means clustering.</a:t>
            </a:r>
          </a:p>
          <a:p>
            <a:r>
              <a:rPr lang="en-GB" dirty="0">
                <a:solidFill>
                  <a:srgbClr val="404040"/>
                </a:solidFill>
              </a:rPr>
              <a:t>Objectives:</a:t>
            </a:r>
          </a:p>
          <a:p>
            <a:r>
              <a:rPr lang="en-GB" dirty="0"/>
              <a:t>Understand customer characteristics and purchase behaviour</a:t>
            </a:r>
          </a:p>
          <a:p>
            <a:r>
              <a:rPr lang="en-GB" dirty="0"/>
              <a:t>Explore patterns using visual analytics</a:t>
            </a:r>
          </a:p>
          <a:p>
            <a:r>
              <a:rPr lang="en-GB" dirty="0"/>
              <a:t>Evaluate relationships between variables (correlation)</a:t>
            </a:r>
          </a:p>
          <a:p>
            <a:r>
              <a:rPr lang="en-GB" dirty="0"/>
              <a:t>Segment customers using clustering</a:t>
            </a:r>
          </a:p>
          <a:p>
            <a:r>
              <a:rPr lang="en-GB" dirty="0"/>
              <a:t>Provide insights for targeted marketing</a:t>
            </a:r>
          </a:p>
          <a:p>
            <a:endParaRPr lang="en-GB" dirty="0">
              <a:solidFill>
                <a:srgbClr val="404040"/>
              </a:solidFill>
            </a:endParaRPr>
          </a:p>
          <a:p>
            <a:endParaRPr lang="en-RU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62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7197-E5B3-C975-F61F-3796C44D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Dataset Description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8A012-816C-B1E6-6C43-C33A83C36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b="1" dirty="0"/>
              <a:t>Source:</a:t>
            </a:r>
            <a:r>
              <a:rPr lang="en-US" sz="1500" dirty="0"/>
              <a:t> “Shopping Behavior Dataset” (updated 2025)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Domain:</a:t>
            </a:r>
            <a:r>
              <a:rPr lang="en-US" sz="1500" dirty="0"/>
              <a:t> Retail / E-commerce Customer Behavior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Total Records:</a:t>
            </a:r>
            <a:r>
              <a:rPr lang="en-US" sz="1500" dirty="0"/>
              <a:t> ~3,000 customer entries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Features:</a:t>
            </a:r>
            <a:r>
              <a:rPr lang="en-US" sz="1500" dirty="0"/>
              <a:t> 8 columns (mix of demographic, behavioral, and transactional variables)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Data Type Mix:</a:t>
            </a:r>
            <a:r>
              <a:rPr lang="en-US" sz="1500" dirty="0"/>
              <a:t> Numeric (int/float) + Categorical (Yes/No, Gender)</a:t>
            </a:r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3B09B61-2C73-1A3F-37F1-B410921868F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36609077"/>
              </p:ext>
            </p:extLst>
          </p:nvPr>
        </p:nvGraphicFramePr>
        <p:xfrm>
          <a:off x="4823366" y="1426743"/>
          <a:ext cx="6227065" cy="4012460"/>
        </p:xfrm>
        <a:graphic>
          <a:graphicData uri="http://schemas.openxmlformats.org/drawingml/2006/table">
            <a:tbl>
              <a:tblPr>
                <a:noFill/>
                <a:tableStyleId>{284E427A-3D55-4303-BF80-6455036E1DE7}</a:tableStyleId>
              </a:tblPr>
              <a:tblGrid>
                <a:gridCol w="2102864">
                  <a:extLst>
                    <a:ext uri="{9D8B030D-6E8A-4147-A177-3AD203B41FA5}">
                      <a16:colId xmlns:a16="http://schemas.microsoft.com/office/drawing/2014/main" val="3764003151"/>
                    </a:ext>
                  </a:extLst>
                </a:gridCol>
                <a:gridCol w="2113503">
                  <a:extLst>
                    <a:ext uri="{9D8B030D-6E8A-4147-A177-3AD203B41FA5}">
                      <a16:colId xmlns:a16="http://schemas.microsoft.com/office/drawing/2014/main" val="1759271200"/>
                    </a:ext>
                  </a:extLst>
                </a:gridCol>
                <a:gridCol w="2010698">
                  <a:extLst>
                    <a:ext uri="{9D8B030D-6E8A-4147-A177-3AD203B41FA5}">
                      <a16:colId xmlns:a16="http://schemas.microsoft.com/office/drawing/2014/main" val="3708227969"/>
                    </a:ext>
                  </a:extLst>
                </a:gridCol>
              </a:tblGrid>
              <a:tr h="313273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Feature Name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991397"/>
                  </a:ext>
                </a:extLst>
              </a:tr>
              <a:tr h="313273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Customer’s age in years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Numeric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561044"/>
                  </a:ext>
                </a:extLst>
              </a:tr>
              <a:tr h="483702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Gender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Customer’s gender (Male/Female)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878632"/>
                  </a:ext>
                </a:extLst>
              </a:tr>
              <a:tr h="483702">
                <a:tc>
                  <a:txBody>
                    <a:bodyPr/>
                    <a:lstStyle/>
                    <a:p>
                      <a:r>
                        <a:rPr lang="en-GB" sz="1100" b="1" cap="none" spc="0" dirty="0">
                          <a:solidFill>
                            <a:schemeClr val="tx1"/>
                          </a:solidFill>
                        </a:rPr>
                        <a:t>Purchase Amount (USD)</a:t>
                      </a:r>
                      <a:endParaRPr lang="en-GB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Amount spent in the latest purchase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Numeric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779025"/>
                  </a:ext>
                </a:extLst>
              </a:tr>
              <a:tr h="483702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Previous Purchases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Number of previous purchases made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Numeric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907501"/>
                  </a:ext>
                </a:extLst>
              </a:tr>
              <a:tr h="483702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Review Rating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Average rating given by customer (1–5)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Numeric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147179"/>
                  </a:ext>
                </a:extLst>
              </a:tr>
              <a:tr h="483702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Promo Code Used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Whether the customer used a promo code (Yes/No)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58073"/>
                  </a:ext>
                </a:extLst>
              </a:tr>
              <a:tr h="483702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Location (if available)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Region or store location of the customer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416147"/>
                  </a:ext>
                </a:extLst>
              </a:tr>
              <a:tr h="483702">
                <a:tc>
                  <a:txBody>
                    <a:bodyPr/>
                    <a:lstStyle/>
                    <a:p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Customer ID</a:t>
                      </a:r>
                      <a:endParaRPr lang="en-GB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Unique identifier for each record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cap="none" spc="0" dirty="0">
                          <a:solidFill>
                            <a:schemeClr val="tx1"/>
                          </a:solidFill>
                        </a:rPr>
                        <a:t>Categorical (dropped before </a:t>
                      </a:r>
                      <a:r>
                        <a:rPr lang="en-GB" sz="1100" cap="none" spc="0" dirty="0" err="1">
                          <a:solidFill>
                            <a:schemeClr val="tx1"/>
                          </a:solidFill>
                        </a:rPr>
                        <a:t>modeling</a:t>
                      </a:r>
                      <a:r>
                        <a:rPr lang="en-GB" sz="1100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59650" marR="42607" marT="23543" marB="85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242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70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F91F-7320-44A8-C087-2DAD246A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Cleaning &amp; Preparation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43B85-1741-3B32-3E54-2A1DFABA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1793" y="1508804"/>
            <a:ext cx="4815840" cy="3753041"/>
          </a:xfrm>
        </p:spPr>
        <p:txBody>
          <a:bodyPr/>
          <a:lstStyle/>
          <a:p>
            <a:r>
              <a:rPr lang="en-GB" dirty="0"/>
              <a:t>Checked dataset shape and structure</a:t>
            </a:r>
          </a:p>
          <a:p>
            <a:r>
              <a:rPr lang="en-GB" dirty="0"/>
              <a:t>Verified missing values → none found</a:t>
            </a:r>
          </a:p>
          <a:p>
            <a:r>
              <a:rPr lang="en-GB" dirty="0"/>
              <a:t>Checked for duplicates → removed if present</a:t>
            </a:r>
          </a:p>
          <a:p>
            <a:r>
              <a:rPr lang="en-GB" dirty="0"/>
              <a:t>Converted categorical values:</a:t>
            </a:r>
          </a:p>
          <a:p>
            <a:pPr marL="0" indent="0">
              <a:buNone/>
            </a:pPr>
            <a:r>
              <a:rPr lang="en-GB" dirty="0"/>
              <a:t>“Yes/No” → 1/0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Age grouped into 5 meaningful categories</a:t>
            </a:r>
          </a:p>
          <a:p>
            <a:r>
              <a:rPr lang="en-GB" dirty="0"/>
              <a:t>Dropped irrelevant columns (Customer ID, Promo Code Used)</a:t>
            </a:r>
          </a:p>
          <a:p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B3342-066F-469A-C551-DACEFE53D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9127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7D6AF3-E31A-558B-B50D-FECDEE69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en-RU">
                <a:solidFill>
                  <a:srgbClr val="FFFFFF"/>
                </a:solidFill>
              </a:rPr>
              <a:t>Summary statistics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19A558-06FB-8B16-0FE4-19E945D346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334616"/>
              </p:ext>
            </p:extLst>
          </p:nvPr>
        </p:nvGraphicFramePr>
        <p:xfrm>
          <a:off x="920750" y="2022165"/>
          <a:ext cx="5651507" cy="2854946"/>
        </p:xfrm>
        <a:graphic>
          <a:graphicData uri="http://schemas.openxmlformats.org/drawingml/2006/table">
            <a:tbl>
              <a:tblPr/>
              <a:tblGrid>
                <a:gridCol w="1073364">
                  <a:extLst>
                    <a:ext uri="{9D8B030D-6E8A-4147-A177-3AD203B41FA5}">
                      <a16:colId xmlns:a16="http://schemas.microsoft.com/office/drawing/2014/main" val="2310629898"/>
                    </a:ext>
                  </a:extLst>
                </a:gridCol>
                <a:gridCol w="528694">
                  <a:extLst>
                    <a:ext uri="{9D8B030D-6E8A-4147-A177-3AD203B41FA5}">
                      <a16:colId xmlns:a16="http://schemas.microsoft.com/office/drawing/2014/main" val="1473381605"/>
                    </a:ext>
                  </a:extLst>
                </a:gridCol>
                <a:gridCol w="652153">
                  <a:extLst>
                    <a:ext uri="{9D8B030D-6E8A-4147-A177-3AD203B41FA5}">
                      <a16:colId xmlns:a16="http://schemas.microsoft.com/office/drawing/2014/main" val="642185574"/>
                    </a:ext>
                  </a:extLst>
                </a:gridCol>
                <a:gridCol w="652153">
                  <a:extLst>
                    <a:ext uri="{9D8B030D-6E8A-4147-A177-3AD203B41FA5}">
                      <a16:colId xmlns:a16="http://schemas.microsoft.com/office/drawing/2014/main" val="4098625879"/>
                    </a:ext>
                  </a:extLst>
                </a:gridCol>
                <a:gridCol w="390711">
                  <a:extLst>
                    <a:ext uri="{9D8B030D-6E8A-4147-A177-3AD203B41FA5}">
                      <a16:colId xmlns:a16="http://schemas.microsoft.com/office/drawing/2014/main" val="3994924457"/>
                    </a:ext>
                  </a:extLst>
                </a:gridCol>
                <a:gridCol w="579530">
                  <a:extLst>
                    <a:ext uri="{9D8B030D-6E8A-4147-A177-3AD203B41FA5}">
                      <a16:colId xmlns:a16="http://schemas.microsoft.com/office/drawing/2014/main" val="3891620443"/>
                    </a:ext>
                  </a:extLst>
                </a:gridCol>
                <a:gridCol w="652153">
                  <a:extLst>
                    <a:ext uri="{9D8B030D-6E8A-4147-A177-3AD203B41FA5}">
                      <a16:colId xmlns:a16="http://schemas.microsoft.com/office/drawing/2014/main" val="1697388032"/>
                    </a:ext>
                  </a:extLst>
                </a:gridCol>
                <a:gridCol w="652153">
                  <a:extLst>
                    <a:ext uri="{9D8B030D-6E8A-4147-A177-3AD203B41FA5}">
                      <a16:colId xmlns:a16="http://schemas.microsoft.com/office/drawing/2014/main" val="1015012396"/>
                    </a:ext>
                  </a:extLst>
                </a:gridCol>
                <a:gridCol w="470596">
                  <a:extLst>
                    <a:ext uri="{9D8B030D-6E8A-4147-A177-3AD203B41FA5}">
                      <a16:colId xmlns:a16="http://schemas.microsoft.com/office/drawing/2014/main" val="2313317588"/>
                    </a:ext>
                  </a:extLst>
                </a:gridCol>
              </a:tblGrid>
              <a:tr h="2300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effectLst/>
                          <a:latin typeface="Arial" panose="020B0604020202020204" pitchFamily="34" charset="0"/>
                        </a:rPr>
                        <a:t>Count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effectLst/>
                          <a:latin typeface="Arial" panose="020B0604020202020204" pitchFamily="34" charset="0"/>
                        </a:rPr>
                        <a:t>Std Dev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effectLst/>
                          <a:latin typeface="Arial" panose="020B0604020202020204" pitchFamily="34" charset="0"/>
                        </a:rPr>
                        <a:t>Min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effectLst/>
                          <a:latin typeface="Arial" panose="020B0604020202020204" pitchFamily="34" charset="0"/>
                        </a:rPr>
                        <a:t>Max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45819"/>
                  </a:ext>
                </a:extLst>
              </a:tr>
              <a:tr h="2300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Customer ID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1950.50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1125.98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975.75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1950.50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2925.25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976105"/>
                  </a:ext>
                </a:extLst>
              </a:tr>
              <a:tr h="2300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Age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44.07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15.21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31.00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44.00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57.00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574736"/>
                  </a:ext>
                </a:extLst>
              </a:tr>
              <a:tr h="38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Purchase Amount (USD)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59.76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23.69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60.00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81.00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1735"/>
                  </a:ext>
                </a:extLst>
              </a:tr>
              <a:tr h="2300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Review Rating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3.75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0.72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2.5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3.10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3.70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4.40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5.0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553373"/>
                  </a:ext>
                </a:extLst>
              </a:tr>
              <a:tr h="38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Subscription Status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0.44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95431"/>
                  </a:ext>
                </a:extLst>
              </a:tr>
              <a:tr h="38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Discount Applied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0.43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0.50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385140"/>
                  </a:ext>
                </a:extLst>
              </a:tr>
              <a:tr h="38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Promo Code Used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0.43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0.50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456518"/>
                  </a:ext>
                </a:extLst>
              </a:tr>
              <a:tr h="38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1" i="0" u="none" strike="noStrike">
                          <a:effectLst/>
                          <a:latin typeface="Arial" panose="020B0604020202020204" pitchFamily="34" charset="0"/>
                        </a:rPr>
                        <a:t>Previous Purchases</a:t>
                      </a:r>
                      <a:endParaRPr lang="en-GB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25.35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14.45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13.00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25.00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38.00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52288" marR="52288" marT="26144" marB="26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368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3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7036-1BB8-E7E1-29D0-791BF326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B815-36D5-EFBF-FAA1-64A1CFFCE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0126" y="2638044"/>
            <a:ext cx="4853558" cy="38341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u="sng" dirty="0"/>
              <a:t>Customer Demographics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i="1" dirty="0"/>
              <a:t>Age </a:t>
            </a:r>
            <a:r>
              <a:rPr lang="en-GB" dirty="0"/>
              <a:t>ranges from </a:t>
            </a:r>
            <a:r>
              <a:rPr lang="en-GB" i="1" dirty="0"/>
              <a:t>18 to 70</a:t>
            </a:r>
            <a:r>
              <a:rPr lang="en-GB" dirty="0"/>
              <a:t>, with an average age of </a:t>
            </a:r>
            <a:r>
              <a:rPr lang="en-GB" b="1" i="1" dirty="0"/>
              <a:t>44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Distribution shows a balanced mix of younger and older customers.</a:t>
            </a:r>
          </a:p>
          <a:p>
            <a:pPr marL="0" indent="0">
              <a:buNone/>
            </a:pPr>
            <a:r>
              <a:rPr lang="en-GB" b="1" u="sng" dirty="0"/>
              <a:t>Spending Behaviour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i="1" dirty="0"/>
              <a:t>Purchase Amount</a:t>
            </a:r>
            <a:r>
              <a:rPr lang="en-GB" dirty="0"/>
              <a:t> ranges from </a:t>
            </a:r>
            <a:r>
              <a:rPr lang="en-GB" i="1" dirty="0"/>
              <a:t>$20 to $100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Average purchase is </a:t>
            </a:r>
            <a:r>
              <a:rPr lang="en-GB" i="1" dirty="0"/>
              <a:t>$59.76</a:t>
            </a:r>
            <a:r>
              <a:rPr lang="en-GB" dirty="0"/>
              <a:t>, with median </a:t>
            </a:r>
            <a:r>
              <a:rPr lang="en-GB" i="1" dirty="0"/>
              <a:t>$60 </a:t>
            </a:r>
            <a:r>
              <a:rPr lang="en-GB" dirty="0"/>
              <a:t>→ fairly symmetrical distribution.</a:t>
            </a:r>
          </a:p>
          <a:p>
            <a:pPr marL="0" indent="0">
              <a:buNone/>
            </a:pPr>
            <a:r>
              <a:rPr lang="en-GB" b="1" u="sng" dirty="0"/>
              <a:t>Customer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i="1" dirty="0"/>
              <a:t>Review Ratings </a:t>
            </a:r>
            <a:r>
              <a:rPr lang="en-GB" dirty="0"/>
              <a:t>average </a:t>
            </a:r>
            <a:r>
              <a:rPr lang="en-GB" i="1" dirty="0"/>
              <a:t>3.75/5</a:t>
            </a:r>
            <a:r>
              <a:rPr lang="en-GB" dirty="0"/>
              <a:t>, indicating generally positive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i="1" dirty="0"/>
              <a:t>Previous Purchases </a:t>
            </a:r>
            <a:r>
              <a:rPr lang="en-GB" dirty="0"/>
              <a:t>average around </a:t>
            </a:r>
            <a:r>
              <a:rPr lang="en-GB" i="1" dirty="0"/>
              <a:t>25</a:t>
            </a:r>
            <a:r>
              <a:rPr lang="en-GB" dirty="0"/>
              <a:t>, suggesting moderate customer loyalty.</a:t>
            </a:r>
          </a:p>
          <a:p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BE89D-98D2-A30F-1E42-11F65E858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638043"/>
            <a:ext cx="5020248" cy="363416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u="sng" dirty="0"/>
              <a:t>Marketing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i="1" dirty="0"/>
              <a:t>27%</a:t>
            </a:r>
            <a:r>
              <a:rPr lang="en-GB" dirty="0"/>
              <a:t> of customers have an active </a:t>
            </a:r>
            <a:r>
              <a:rPr lang="en-GB" i="1" dirty="0"/>
              <a:t>subscription.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i="1" dirty="0"/>
              <a:t>43%</a:t>
            </a:r>
            <a:r>
              <a:rPr lang="en-GB" dirty="0"/>
              <a:t> used a </a:t>
            </a:r>
            <a:r>
              <a:rPr lang="en-GB" i="1" dirty="0"/>
              <a:t>discount; 43% </a:t>
            </a:r>
            <a:r>
              <a:rPr lang="en-GB" dirty="0"/>
              <a:t>used a </a:t>
            </a:r>
            <a:r>
              <a:rPr lang="en-GB" i="1" dirty="0"/>
              <a:t>promo code</a:t>
            </a:r>
            <a:br>
              <a:rPr lang="en-GB" dirty="0"/>
            </a:br>
            <a:r>
              <a:rPr lang="en-GB" dirty="0"/>
              <a:t>→ promotional tools are moderately used.</a:t>
            </a:r>
          </a:p>
          <a:p>
            <a:pPr marL="0" indent="0">
              <a:buNone/>
            </a:pPr>
            <a:r>
              <a:rPr lang="en-GB" b="1" u="sng" dirty="0"/>
              <a:t>Data Readiness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Variables are consistent and numeric.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Binary values (Yes/No) converted to </a:t>
            </a:r>
            <a:r>
              <a:rPr lang="en-GB" i="1" dirty="0"/>
              <a:t>1/0</a:t>
            </a:r>
            <a:r>
              <a:rPr lang="en-GB" dirty="0"/>
              <a:t>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i="1" dirty="0"/>
              <a:t>Customer ID </a:t>
            </a:r>
            <a:r>
              <a:rPr lang="en-GB" dirty="0"/>
              <a:t>identified as non-informative → removed before clustering.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0916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9A78-F44E-924E-A948-06C8F436E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Distribution of Purchase Amount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4DB90-6FD3-0E91-CA98-8BD15F491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distribution is </a:t>
            </a:r>
            <a:r>
              <a:rPr lang="en-GB" b="1" dirty="0"/>
              <a:t>fairly uniform</a:t>
            </a:r>
            <a:r>
              <a:rPr lang="en-GB" dirty="0"/>
              <a:t>, indicating customers are spread across different spending levels.</a:t>
            </a:r>
          </a:p>
          <a:p>
            <a:r>
              <a:rPr lang="en-GB" dirty="0"/>
              <a:t>A slight </a:t>
            </a:r>
            <a:r>
              <a:rPr lang="en-GB" b="1" dirty="0"/>
              <a:t>increase near the upper end (90–100 USD)</a:t>
            </a:r>
            <a:r>
              <a:rPr lang="en-GB" dirty="0"/>
              <a:t> suggests a segment of high-spending customers.</a:t>
            </a:r>
          </a:p>
          <a:p>
            <a:r>
              <a:rPr lang="en-GB" dirty="0"/>
              <a:t>There are </a:t>
            </a:r>
            <a:r>
              <a:rPr lang="en-GB" b="1" dirty="0"/>
              <a:t>no extreme outliers</a:t>
            </a:r>
            <a:r>
              <a:rPr lang="en-GB" dirty="0"/>
              <a:t>, meaning purchases are consistent across the population.</a:t>
            </a:r>
          </a:p>
          <a:p>
            <a:r>
              <a:rPr lang="en-GB" dirty="0"/>
              <a:t>This pattern supports using </a:t>
            </a:r>
            <a:r>
              <a:rPr lang="en-GB" b="1" dirty="0"/>
              <a:t>clustering</a:t>
            </a:r>
            <a:r>
              <a:rPr lang="en-GB" dirty="0"/>
              <a:t> — spending can help identify meaningful customer groups.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79" name="Rectangle 3078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 graph of a distribution of purchase amount&#10;&#10;Description automatically generated">
            <a:extLst>
              <a:ext uri="{FF2B5EF4-FFF2-40B4-BE49-F238E27FC236}">
                <a16:creationId xmlns:a16="http://schemas.microsoft.com/office/drawing/2014/main" id="{4CEB933B-7E57-2F7F-0B19-D24FD1F9EC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3366" y="1323553"/>
            <a:ext cx="6227064" cy="421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587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296A-6204-A0B8-95BD-533EAFDF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800"/>
              <a:t>Preprocessing the data (Creating Age Groups)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00CA4-9578-AA08-6D29-68713C0D7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/>
              <a:t>Divided continuous age values into 5 meaningful age brackets (18–25, 26–35, 36–45, 46–55, 56–70).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Grouped customers by age bracket to simplify analysis and reduce noise.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Calculated aggregated metrics: average purchase amount, average age, previous purchases, ratings, discount rate, and subscription rate.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Counted the number of customers in each age group to understand segment size.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Enabled clearer visualization and prepared the dataset for correlation analysis and clustering.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1D3E266-CA34-3813-0F5B-FFD1E07A02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48283395"/>
              </p:ext>
            </p:extLst>
          </p:nvPr>
        </p:nvGraphicFramePr>
        <p:xfrm>
          <a:off x="4823366" y="2585396"/>
          <a:ext cx="6227068" cy="169515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91366">
                  <a:extLst>
                    <a:ext uri="{9D8B030D-6E8A-4147-A177-3AD203B41FA5}">
                      <a16:colId xmlns:a16="http://schemas.microsoft.com/office/drawing/2014/main" val="1673074265"/>
                    </a:ext>
                  </a:extLst>
                </a:gridCol>
                <a:gridCol w="857198">
                  <a:extLst>
                    <a:ext uri="{9D8B030D-6E8A-4147-A177-3AD203B41FA5}">
                      <a16:colId xmlns:a16="http://schemas.microsoft.com/office/drawing/2014/main" val="228611193"/>
                    </a:ext>
                  </a:extLst>
                </a:gridCol>
                <a:gridCol w="622577">
                  <a:extLst>
                    <a:ext uri="{9D8B030D-6E8A-4147-A177-3AD203B41FA5}">
                      <a16:colId xmlns:a16="http://schemas.microsoft.com/office/drawing/2014/main" val="3823431529"/>
                    </a:ext>
                  </a:extLst>
                </a:gridCol>
                <a:gridCol w="836072">
                  <a:extLst>
                    <a:ext uri="{9D8B030D-6E8A-4147-A177-3AD203B41FA5}">
                      <a16:colId xmlns:a16="http://schemas.microsoft.com/office/drawing/2014/main" val="1742926472"/>
                    </a:ext>
                  </a:extLst>
                </a:gridCol>
                <a:gridCol w="725988">
                  <a:extLst>
                    <a:ext uri="{9D8B030D-6E8A-4147-A177-3AD203B41FA5}">
                      <a16:colId xmlns:a16="http://schemas.microsoft.com/office/drawing/2014/main" val="2463161501"/>
                    </a:ext>
                  </a:extLst>
                </a:gridCol>
                <a:gridCol w="1172949">
                  <a:extLst>
                    <a:ext uri="{9D8B030D-6E8A-4147-A177-3AD203B41FA5}">
                      <a16:colId xmlns:a16="http://schemas.microsoft.com/office/drawing/2014/main" val="1929062171"/>
                    </a:ext>
                  </a:extLst>
                </a:gridCol>
                <a:gridCol w="891669">
                  <a:extLst>
                    <a:ext uri="{9D8B030D-6E8A-4147-A177-3AD203B41FA5}">
                      <a16:colId xmlns:a16="http://schemas.microsoft.com/office/drawing/2014/main" val="1720223558"/>
                    </a:ext>
                  </a:extLst>
                </a:gridCol>
                <a:gridCol w="629249">
                  <a:extLst>
                    <a:ext uri="{9D8B030D-6E8A-4147-A177-3AD203B41FA5}">
                      <a16:colId xmlns:a16="http://schemas.microsoft.com/office/drawing/2014/main" val="2333562125"/>
                    </a:ext>
                  </a:extLst>
                </a:gridCol>
              </a:tblGrid>
              <a:tr h="414181"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Age Group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n_customers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avg_age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avg_purchase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avg_rating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avg_prev_purchases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discount_rate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cap="none" spc="0">
                          <a:solidFill>
                            <a:schemeClr val="tx1"/>
                          </a:solidFill>
                        </a:rPr>
                        <a:t>sub_rate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494050"/>
                  </a:ext>
                </a:extLst>
              </a:tr>
              <a:tr h="264734">
                <a:tc>
                  <a:txBody>
                    <a:bodyPr/>
                    <a:lstStyle/>
                    <a:p>
                      <a:r>
                        <a:rPr lang="en-RU" sz="1000" b="1" cap="none" spc="0">
                          <a:solidFill>
                            <a:schemeClr val="tx1"/>
                          </a:solidFill>
                        </a:rPr>
                        <a:t>18–25</a:t>
                      </a:r>
                      <a:endParaRPr lang="en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077" marR="32077" marT="44834" marB="4483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502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22.05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60.74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3.83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25.13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0.434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0.271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581184"/>
                  </a:ext>
                </a:extLst>
              </a:tr>
              <a:tr h="243385">
                <a:tc>
                  <a:txBody>
                    <a:bodyPr/>
                    <a:lstStyle/>
                    <a:p>
                      <a:r>
                        <a:rPr lang="en-RU" sz="800" b="1" cap="none" spc="0">
                          <a:solidFill>
                            <a:schemeClr val="tx1"/>
                          </a:solidFill>
                        </a:rPr>
                        <a:t>26–35</a:t>
                      </a:r>
                      <a:endParaRPr lang="en-RU" sz="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742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30.41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59.76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3.74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24.76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0.436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0.264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203986"/>
                  </a:ext>
                </a:extLst>
              </a:tr>
              <a:tr h="264734">
                <a:tc>
                  <a:txBody>
                    <a:bodyPr/>
                    <a:lstStyle/>
                    <a:p>
                      <a:r>
                        <a:rPr lang="en-RU" sz="1000" b="1" cap="none" spc="0">
                          <a:solidFill>
                            <a:schemeClr val="tx1"/>
                          </a:solidFill>
                        </a:rPr>
                        <a:t>36–45</a:t>
                      </a:r>
                      <a:endParaRPr lang="en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077" marR="32077" marT="44834" marB="4483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729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40.43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59.31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3.75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25.17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0.414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0.263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342262"/>
                  </a:ext>
                </a:extLst>
              </a:tr>
              <a:tr h="243385">
                <a:tc>
                  <a:txBody>
                    <a:bodyPr/>
                    <a:lstStyle/>
                    <a:p>
                      <a:r>
                        <a:rPr lang="en-RU" sz="800" b="1" cap="none" spc="0">
                          <a:solidFill>
                            <a:schemeClr val="tx1"/>
                          </a:solidFill>
                        </a:rPr>
                        <a:t>46–55</a:t>
                      </a:r>
                      <a:endParaRPr lang="en-RU" sz="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753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50.52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60.58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3.71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25.42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0.433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800" cap="none" spc="0">
                          <a:solidFill>
                            <a:schemeClr val="tx1"/>
                          </a:solidFill>
                        </a:rPr>
                        <a:t>0.304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709036"/>
                  </a:ext>
                </a:extLst>
              </a:tr>
              <a:tr h="264734">
                <a:tc>
                  <a:txBody>
                    <a:bodyPr/>
                    <a:lstStyle/>
                    <a:p>
                      <a:r>
                        <a:rPr lang="en-RU" sz="1000" b="1" cap="none" spc="0">
                          <a:solidFill>
                            <a:schemeClr val="tx1"/>
                          </a:solidFill>
                        </a:rPr>
                        <a:t>56–70</a:t>
                      </a:r>
                      <a:endParaRPr lang="en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077" marR="32077" marT="44834" marB="4483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1105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62.88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59.06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3.75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26.19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0.433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000" cap="none" spc="0">
                          <a:solidFill>
                            <a:schemeClr val="tx1"/>
                          </a:solidFill>
                        </a:rPr>
                        <a:t>0.259</a:t>
                      </a:r>
                    </a:p>
                  </a:txBody>
                  <a:tcPr marL="32077" marR="32077" marT="44834" marB="4483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17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3120-A482-A49C-3DE1-1EADADA67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500"/>
              <a:t>Scatter Plot: Average Purchase Amount by Age Group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F35EC-1CBB-CB7F-4100-AC24CBCD6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Shows the relationship between 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Average Purchase Amount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Average Previous Purchases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across age groups.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Age groups were created to reduce noise and make patterns clearer compared to individual-level data.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Each point represents 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one age group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summarizing customer behavior in that segment.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Reveals small but noticeable differences in spending and past purchase activity between age groups.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Helps identify which groups behave similarly, forming the basis for later 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clustering analysis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Provides an early visual indication that age groups may fall into 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two main behavioral patterns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230" name="Rectangle 9229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32" name="Rectangle 9231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A graph with numbers and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5420687F-C977-D48C-6D55-9B6672563D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3366" y="1572636"/>
            <a:ext cx="6227064" cy="372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43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14F9-DAB5-6EF7-4122-B04486DF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500"/>
              <a:t>Data preprocessing (Category-Level Aggregation0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380D5-8F39-BDF9-D55F-20E6FB460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Grouped the dataset by </a:t>
            </a:r>
            <a:r>
              <a:rPr lang="en-US" sz="1200" b="1" dirty="0"/>
              <a:t>product category</a:t>
            </a:r>
            <a:r>
              <a:rPr lang="en-US" sz="1200" dirty="0"/>
              <a:t> (Accessories, Clothing, Footwear, Outerwear).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Calculated </a:t>
            </a:r>
            <a:r>
              <a:rPr lang="en-US" sz="1200" b="1" dirty="0"/>
              <a:t>average values</a:t>
            </a:r>
            <a:r>
              <a:rPr lang="en-US" sz="1200" dirty="0"/>
              <a:t> for: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Age; Purchase Amount; Rating; Previous Purchases; Subscription Rate; Discount Rate.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Counted the </a:t>
            </a:r>
            <a:r>
              <a:rPr lang="en-US" sz="1200" b="1" dirty="0"/>
              <a:t>number of customers</a:t>
            </a:r>
            <a:r>
              <a:rPr lang="en-US" sz="1200" dirty="0"/>
              <a:t> per category.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Created a summary table showing how each category differs in customer </a:t>
            </a:r>
            <a:r>
              <a:rPr lang="en-US" sz="1200" dirty="0" err="1"/>
              <a:t>behaviour</a:t>
            </a:r>
            <a:r>
              <a:rPr lang="en-US" sz="12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This aggregation simplifies the data and makes category-level comparisons possible.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A658A8-B0A1-2F16-219B-3C243868A4D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04463759"/>
              </p:ext>
            </p:extLst>
          </p:nvPr>
        </p:nvGraphicFramePr>
        <p:xfrm>
          <a:off x="4823366" y="2445082"/>
          <a:ext cx="6227067" cy="197578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44359">
                  <a:extLst>
                    <a:ext uri="{9D8B030D-6E8A-4147-A177-3AD203B41FA5}">
                      <a16:colId xmlns:a16="http://schemas.microsoft.com/office/drawing/2014/main" val="1393264416"/>
                    </a:ext>
                  </a:extLst>
                </a:gridCol>
                <a:gridCol w="874783">
                  <a:extLst>
                    <a:ext uri="{9D8B030D-6E8A-4147-A177-3AD203B41FA5}">
                      <a16:colId xmlns:a16="http://schemas.microsoft.com/office/drawing/2014/main" val="1898842669"/>
                    </a:ext>
                  </a:extLst>
                </a:gridCol>
                <a:gridCol w="563383">
                  <a:extLst>
                    <a:ext uri="{9D8B030D-6E8A-4147-A177-3AD203B41FA5}">
                      <a16:colId xmlns:a16="http://schemas.microsoft.com/office/drawing/2014/main" val="44446271"/>
                    </a:ext>
                  </a:extLst>
                </a:gridCol>
                <a:gridCol w="791564">
                  <a:extLst>
                    <a:ext uri="{9D8B030D-6E8A-4147-A177-3AD203B41FA5}">
                      <a16:colId xmlns:a16="http://schemas.microsoft.com/office/drawing/2014/main" val="3148372228"/>
                    </a:ext>
                  </a:extLst>
                </a:gridCol>
                <a:gridCol w="633180">
                  <a:extLst>
                    <a:ext uri="{9D8B030D-6E8A-4147-A177-3AD203B41FA5}">
                      <a16:colId xmlns:a16="http://schemas.microsoft.com/office/drawing/2014/main" val="788388505"/>
                    </a:ext>
                  </a:extLst>
                </a:gridCol>
                <a:gridCol w="855097">
                  <a:extLst>
                    <a:ext uri="{9D8B030D-6E8A-4147-A177-3AD203B41FA5}">
                      <a16:colId xmlns:a16="http://schemas.microsoft.com/office/drawing/2014/main" val="1245067756"/>
                    </a:ext>
                  </a:extLst>
                </a:gridCol>
                <a:gridCol w="976793">
                  <a:extLst>
                    <a:ext uri="{9D8B030D-6E8A-4147-A177-3AD203B41FA5}">
                      <a16:colId xmlns:a16="http://schemas.microsoft.com/office/drawing/2014/main" val="2915023311"/>
                    </a:ext>
                  </a:extLst>
                </a:gridCol>
                <a:gridCol w="687908">
                  <a:extLst>
                    <a:ext uri="{9D8B030D-6E8A-4147-A177-3AD203B41FA5}">
                      <a16:colId xmlns:a16="http://schemas.microsoft.com/office/drawing/2014/main" val="1672994683"/>
                    </a:ext>
                  </a:extLst>
                </a:gridCol>
              </a:tblGrid>
              <a:tr h="587580"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# Customers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Avg Age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Avg Purchase (USD)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Avg Rating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Avg Previous Purchases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Subscription Rate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rgbClr val="FFFFFF"/>
                          </a:solidFill>
                        </a:rPr>
                        <a:t>Discount Rate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146932"/>
                  </a:ext>
                </a:extLst>
              </a:tr>
              <a:tr h="450134"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Accessories</a:t>
                      </a:r>
                      <a:endParaRPr lang="en-GB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28855" marR="77313" marT="77313" marB="7731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1240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44.22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59.84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3.77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25.73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0.269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0.438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955389"/>
                  </a:ext>
                </a:extLst>
              </a:tr>
              <a:tr h="312689"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Clothing</a:t>
                      </a:r>
                      <a:endParaRPr lang="en-GB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28855" marR="77313" marT="77313" marB="7731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1737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43.78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60.03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3.72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25.20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0.263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0.421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809787"/>
                  </a:ext>
                </a:extLst>
              </a:tr>
              <a:tr h="312689"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Footwear</a:t>
                      </a:r>
                      <a:endParaRPr lang="en-GB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28855" marR="77313" marT="77313" marB="7731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599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44.44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60.26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3.79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25.23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0.285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0.433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823498"/>
                  </a:ext>
                </a:extLst>
              </a:tr>
              <a:tr h="312689">
                <a:tc>
                  <a:txBody>
                    <a:bodyPr/>
                    <a:lstStyle/>
                    <a:p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Outerwear</a:t>
                      </a:r>
                      <a:endParaRPr lang="en-GB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28855" marR="77313" marT="77313" marB="7731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324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44.31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57.17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3.75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24.96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0.281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U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0.444</a:t>
                      </a:r>
                    </a:p>
                  </a:txBody>
                  <a:tcPr marL="128855" marR="77313" marT="77313" marB="7731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647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45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FB86-27AF-0911-C96C-9019A5FB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Category-Level Correlation Heatmap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7B929-F07F-7F90-11FA-253BD0DE8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Older customers subscribe more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Strong correlations: Age–Subscription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(+0.91)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Age–Rating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(+0.86)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Discounts decrease spending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Avg purchase vs. discount rate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(–0.72)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Higher repeat purchases = higher spend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Correlation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(+0.59)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volume doesn’t drive performance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More customers ≠ higher spend or satisfaction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Categories with lower discounts tend to show stronger revenue per customer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A diagram of a customer relationship&#10;&#10;Description automatically generated with medium confidence">
            <a:extLst>
              <a:ext uri="{FF2B5EF4-FFF2-40B4-BE49-F238E27FC236}">
                <a16:creationId xmlns:a16="http://schemas.microsoft.com/office/drawing/2014/main" id="{B3B7DCDB-E499-6A52-FB78-17080F79A9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9021" y="1293275"/>
            <a:ext cx="5575753" cy="427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59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BE98-1C3A-455D-059A-C13322B2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Data preprocessing (clustering)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51D36-77D7-51DE-5869-35054939D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/>
              <a:t>We divided customers into </a:t>
            </a:r>
            <a:r>
              <a:rPr lang="en-US" sz="1100" b="1" dirty="0"/>
              <a:t>age groups</a:t>
            </a:r>
            <a:r>
              <a:rPr lang="en-US" sz="1100" dirty="0"/>
              <a:t> (18–25, 26–35, 36–45, 46–55, 56–70).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Used </a:t>
            </a:r>
            <a:r>
              <a:rPr lang="en-US" sz="1100" b="1" dirty="0" err="1"/>
              <a:t>groupby</a:t>
            </a:r>
            <a:r>
              <a:rPr lang="en-US" sz="1100" dirty="0"/>
              <a:t> to calculate key metrics for each segment.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Computed </a:t>
            </a:r>
            <a:r>
              <a:rPr lang="en-US" sz="1100" b="1" dirty="0"/>
              <a:t>average purchase amount, rating, and previous purchases</a:t>
            </a:r>
            <a:r>
              <a:rPr lang="en-US" sz="1100" dirty="0"/>
              <a:t> per age group.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Calculated </a:t>
            </a:r>
            <a:r>
              <a:rPr lang="en-US" sz="1100" b="1" dirty="0"/>
              <a:t>subscription rate</a:t>
            </a:r>
            <a:r>
              <a:rPr lang="en-US" sz="1100" dirty="0"/>
              <a:t> and </a:t>
            </a:r>
            <a:r>
              <a:rPr lang="en-US" sz="1100" b="1" dirty="0"/>
              <a:t>discount usage rate</a:t>
            </a:r>
            <a:r>
              <a:rPr lang="en-US" sz="1100" dirty="0"/>
              <a:t> for each group.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Produced a </a:t>
            </a:r>
            <a:r>
              <a:rPr lang="en-US" sz="1100" b="1" dirty="0"/>
              <a:t>summary table</a:t>
            </a:r>
            <a:r>
              <a:rPr lang="en-US" sz="1100" dirty="0"/>
              <a:t> showing behavioral differences between age segments.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This grouping provides a </a:t>
            </a:r>
            <a:r>
              <a:rPr lang="en-US" sz="1100" b="1" dirty="0"/>
              <a:t>structured foundation</a:t>
            </a:r>
            <a:r>
              <a:rPr lang="en-US" sz="1100" dirty="0"/>
              <a:t> for scatter plots and clustering analysis.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51D0AD9-FBE7-663C-6EA7-2FEE797F5AF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64935027"/>
              </p:ext>
            </p:extLst>
          </p:nvPr>
        </p:nvGraphicFramePr>
        <p:xfrm>
          <a:off x="4823366" y="2057595"/>
          <a:ext cx="6227066" cy="2750758"/>
        </p:xfrm>
        <a:graphic>
          <a:graphicData uri="http://schemas.openxmlformats.org/drawingml/2006/table">
            <a:tbl>
              <a:tblPr firstRow="1" bandRow="1"/>
              <a:tblGrid>
                <a:gridCol w="850342">
                  <a:extLst>
                    <a:ext uri="{9D8B030D-6E8A-4147-A177-3AD203B41FA5}">
                      <a16:colId xmlns:a16="http://schemas.microsoft.com/office/drawing/2014/main" val="2446959557"/>
                    </a:ext>
                  </a:extLst>
                </a:gridCol>
                <a:gridCol w="1122374">
                  <a:extLst>
                    <a:ext uri="{9D8B030D-6E8A-4147-A177-3AD203B41FA5}">
                      <a16:colId xmlns:a16="http://schemas.microsoft.com/office/drawing/2014/main" val="972833074"/>
                    </a:ext>
                  </a:extLst>
                </a:gridCol>
                <a:gridCol w="871091">
                  <a:extLst>
                    <a:ext uri="{9D8B030D-6E8A-4147-A177-3AD203B41FA5}">
                      <a16:colId xmlns:a16="http://schemas.microsoft.com/office/drawing/2014/main" val="4111983929"/>
                    </a:ext>
                  </a:extLst>
                </a:gridCol>
                <a:gridCol w="1055519">
                  <a:extLst>
                    <a:ext uri="{9D8B030D-6E8A-4147-A177-3AD203B41FA5}">
                      <a16:colId xmlns:a16="http://schemas.microsoft.com/office/drawing/2014/main" val="3872595008"/>
                    </a:ext>
                  </a:extLst>
                </a:gridCol>
                <a:gridCol w="1242252">
                  <a:extLst>
                    <a:ext uri="{9D8B030D-6E8A-4147-A177-3AD203B41FA5}">
                      <a16:colId xmlns:a16="http://schemas.microsoft.com/office/drawing/2014/main" val="1701751025"/>
                    </a:ext>
                  </a:extLst>
                </a:gridCol>
                <a:gridCol w="1085488">
                  <a:extLst>
                    <a:ext uri="{9D8B030D-6E8A-4147-A177-3AD203B41FA5}">
                      <a16:colId xmlns:a16="http://schemas.microsoft.com/office/drawing/2014/main" val="3522216151"/>
                    </a:ext>
                  </a:extLst>
                </a:gridCol>
              </a:tblGrid>
              <a:tr h="1011743">
                <a:tc>
                  <a:txBody>
                    <a:bodyPr/>
                    <a:lstStyle/>
                    <a:p>
                      <a:r>
                        <a:rPr lang="en-GB" sz="1500" b="1"/>
                        <a:t>Age Group</a:t>
                      </a:r>
                      <a:endParaRPr lang="en-GB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/>
                        <a:t>Avg Purchase (USD)</a:t>
                      </a:r>
                      <a:endParaRPr lang="en-GB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/>
                        <a:t>Avg Rating</a:t>
                      </a:r>
                      <a:endParaRPr lang="en-GB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/>
                        <a:t>Avg Previous Purchases</a:t>
                      </a:r>
                      <a:endParaRPr lang="en-GB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/>
                        <a:t>Subscription Rate</a:t>
                      </a:r>
                      <a:endParaRPr lang="en-GB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/>
                        <a:t>Discount Rate</a:t>
                      </a:r>
                      <a:endParaRPr lang="en-GB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526495"/>
                  </a:ext>
                </a:extLst>
              </a:tr>
              <a:tr h="347803">
                <a:tc>
                  <a:txBody>
                    <a:bodyPr/>
                    <a:lstStyle/>
                    <a:p>
                      <a:r>
                        <a:rPr lang="en-RU" sz="1500" b="1"/>
                        <a:t>18–25</a:t>
                      </a:r>
                      <a:endParaRPr lang="en-RU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60.648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3.816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24.634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0.263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0.433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107250"/>
                  </a:ext>
                </a:extLst>
              </a:tr>
              <a:tr h="347803">
                <a:tc>
                  <a:txBody>
                    <a:bodyPr/>
                    <a:lstStyle/>
                    <a:p>
                      <a:r>
                        <a:rPr lang="en-RU" sz="1500" b="1"/>
                        <a:t>26–35</a:t>
                      </a:r>
                      <a:endParaRPr lang="en-RU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59.760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3.735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24.760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0.264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0.435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827370"/>
                  </a:ext>
                </a:extLst>
              </a:tr>
              <a:tr h="347803">
                <a:tc>
                  <a:txBody>
                    <a:bodyPr/>
                    <a:lstStyle/>
                    <a:p>
                      <a:r>
                        <a:rPr lang="en-RU" sz="1500" b="1"/>
                        <a:t>36–45</a:t>
                      </a:r>
                      <a:endParaRPr lang="en-RU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59.306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3.751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25.170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0.263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0.414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214133"/>
                  </a:ext>
                </a:extLst>
              </a:tr>
              <a:tr h="347803">
                <a:tc>
                  <a:txBody>
                    <a:bodyPr/>
                    <a:lstStyle/>
                    <a:p>
                      <a:r>
                        <a:rPr lang="en-RU" sz="1500" b="1"/>
                        <a:t>46–55</a:t>
                      </a:r>
                      <a:endParaRPr lang="en-RU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60.583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3.712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25.420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0.304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0.433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8354"/>
                  </a:ext>
                </a:extLst>
              </a:tr>
              <a:tr h="347803">
                <a:tc>
                  <a:txBody>
                    <a:bodyPr/>
                    <a:lstStyle/>
                    <a:p>
                      <a:r>
                        <a:rPr lang="en-RU" sz="1500" b="1"/>
                        <a:t>56–70</a:t>
                      </a:r>
                      <a:endParaRPr lang="en-RU" sz="1500"/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59.055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3.751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26.193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0.259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RU" sz="1500"/>
                        <a:t>0.433</a:t>
                      </a:r>
                    </a:p>
                  </a:txBody>
                  <a:tcPr marL="73375" marR="73375" marT="36687" marB="36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587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91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E69A-65D2-D91D-ECE4-CEDD63FB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800"/>
              <a:t>Elbow 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E4CC9-7498-CBCA-3F1E-B0AE0BFB3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3244" y="2638044"/>
            <a:ext cx="4492932" cy="326320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elbow method evaluates how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WCSS decreases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as the number of clusters (k) increases.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WCSS drops sharply from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 = 2 to k = 3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showing major improvement in clustering quality.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After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 = 3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the decrease becomes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much smaller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indicating diminishing returns.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“elbow point” appears around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 = 2–3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where adding more clusters no longer provides significant benefit.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 = 2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is chosen as the optimal value because it provides clear, meaningful segmentation with minimal complexity.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Higher k values risk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overfitting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especially given only five age groups in the dataset.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A graph with a line&#10;&#10;Description automatically generated">
            <a:extLst>
              <a:ext uri="{FF2B5EF4-FFF2-40B4-BE49-F238E27FC236}">
                <a16:creationId xmlns:a16="http://schemas.microsoft.com/office/drawing/2014/main" id="{83CE38D0-A94D-1001-EF8F-872E05BFC9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2789" y="1711339"/>
            <a:ext cx="4782312" cy="344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79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7792-205F-D561-D1D6-2442C18F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Silhouette Score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938B7-D7E6-7B6E-8C1A-1B4BE8AC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Measures how well each point fits within its cluster (cohesion) vs. others (separation).</a:t>
            </a:r>
          </a:p>
          <a:p>
            <a:r>
              <a:rPr lang="en-GB" dirty="0"/>
              <a:t>Score range: </a:t>
            </a:r>
            <a:r>
              <a:rPr lang="en-GB" b="1" dirty="0"/>
              <a:t>–1 to +1</a:t>
            </a:r>
            <a:r>
              <a:rPr lang="en-GB" dirty="0"/>
              <a:t> → higher = better cluster quality.</a:t>
            </a:r>
          </a:p>
          <a:p>
            <a:r>
              <a:rPr lang="en-GB" dirty="0"/>
              <a:t>Our results:</a:t>
            </a:r>
          </a:p>
          <a:p>
            <a:pPr marL="0" indent="0">
              <a:buNone/>
            </a:pPr>
            <a:r>
              <a:rPr lang="en-GB" b="1" dirty="0"/>
              <a:t>k=2 → 0.111</a:t>
            </a:r>
            <a:r>
              <a:rPr lang="en-GB" dirty="0"/>
              <a:t> (best)</a:t>
            </a:r>
          </a:p>
          <a:p>
            <a:pPr marL="0" indent="0">
              <a:buNone/>
            </a:pPr>
            <a:r>
              <a:rPr lang="en-GB" b="1" dirty="0"/>
              <a:t>k=3 → 0.110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k=4 → 0.063</a:t>
            </a:r>
            <a:endParaRPr lang="en-GB" dirty="0"/>
          </a:p>
          <a:p>
            <a:r>
              <a:rPr lang="en-GB" dirty="0"/>
              <a:t>Scores are low because we only have </a:t>
            </a:r>
            <a:r>
              <a:rPr lang="en-GB" b="1" dirty="0"/>
              <a:t>5 age-group data points</a:t>
            </a:r>
            <a:r>
              <a:rPr lang="en-GB" dirty="0"/>
              <a:t>, limiting cluster separation.</a:t>
            </a:r>
          </a:p>
          <a:p>
            <a:r>
              <a:rPr lang="en-GB" b="1" dirty="0"/>
              <a:t>k = 2 chosen</a:t>
            </a:r>
            <a:r>
              <a:rPr lang="en-GB" dirty="0"/>
              <a:t> as the optimal clustering since it yields the </a:t>
            </a:r>
            <a:r>
              <a:rPr lang="en-GB" b="1" dirty="0"/>
              <a:t>highest Silhouette Score</a:t>
            </a:r>
            <a:r>
              <a:rPr lang="en-GB" dirty="0"/>
              <a:t>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61844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440E-67A2-4D8A-CB4D-825CB192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Scatter Plot (k = 2 Clusters)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B9DAF-29D9-C74B-E0CD-BF993AAC5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 = 2 segmentation creates one main customer segment and one unique outlier segment (46–55).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can be used to tailor marketing or promotional strategies to this specific age group.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graph with blue dots&#10;&#10;Description automatically generated">
            <a:extLst>
              <a:ext uri="{FF2B5EF4-FFF2-40B4-BE49-F238E27FC236}">
                <a16:creationId xmlns:a16="http://schemas.microsoft.com/office/drawing/2014/main" id="{B5521116-B3E8-B6F5-A850-B2DD057CB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074429" y="1293275"/>
            <a:ext cx="5724938" cy="427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18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77-29B5-0135-0489-7E2368DD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Clustered Age Groups with Fitted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2CC3E-3E64-0E4A-599A-F90D50FDA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dirty="0"/>
              <a:t>This chart visualizes how </a:t>
            </a:r>
            <a:r>
              <a:rPr lang="en-US" sz="1000" b="1" dirty="0"/>
              <a:t>Average Purchase Amount (x-axis)</a:t>
            </a:r>
            <a:r>
              <a:rPr lang="en-US" sz="1000" dirty="0"/>
              <a:t> relates to </a:t>
            </a:r>
            <a:r>
              <a:rPr lang="en-US" sz="1000" b="1" dirty="0"/>
              <a:t>Average Previous Purchases (y-axis)</a:t>
            </a:r>
            <a:r>
              <a:rPr lang="en-US" sz="1000" dirty="0"/>
              <a:t> across age-group clusters.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The points are color-coded by cluster:</a:t>
            </a:r>
          </a:p>
          <a:p>
            <a:pPr>
              <a:lnSpc>
                <a:spcPct val="90000"/>
              </a:lnSpc>
            </a:pPr>
            <a:r>
              <a:rPr lang="en-US" sz="1000" b="1" dirty="0"/>
              <a:t>Blue = Cluster 0</a:t>
            </a: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b="1" dirty="0"/>
              <a:t>Orange = Cluster 1 (only the 46–55 group)</a:t>
            </a: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A </a:t>
            </a:r>
            <a:r>
              <a:rPr lang="en-US" sz="1000" b="1" dirty="0"/>
              <a:t>red regression line</a:t>
            </a:r>
            <a:r>
              <a:rPr lang="en-US" sz="1000" dirty="0"/>
              <a:t> shows the overall trend between the two variables.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The fitted line helps visualize the </a:t>
            </a:r>
            <a:r>
              <a:rPr lang="en-US" sz="1000" b="1" dirty="0"/>
              <a:t>general relationship</a:t>
            </a:r>
            <a:r>
              <a:rPr lang="en-US" sz="1000" dirty="0"/>
              <a:t> between spending and past activity.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The cluster colors highlight </a:t>
            </a:r>
            <a:r>
              <a:rPr lang="en-US" sz="1000" b="1" dirty="0"/>
              <a:t>distinct behavioral segments</a:t>
            </a:r>
            <a:r>
              <a:rPr lang="en-US" sz="1000" dirty="0"/>
              <a:t>: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One broad cluster of typical shoppers.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One standout age group with </a:t>
            </a:r>
            <a:r>
              <a:rPr lang="en-US" sz="1000" b="1" dirty="0"/>
              <a:t>unique purchasing patterns</a:t>
            </a:r>
            <a:r>
              <a:rPr lang="en-US" sz="1000" dirty="0"/>
              <a:t>.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graph with red line and blue dots&#10;&#10;Description automatically generated">
            <a:extLst>
              <a:ext uri="{FF2B5EF4-FFF2-40B4-BE49-F238E27FC236}">
                <a16:creationId xmlns:a16="http://schemas.microsoft.com/office/drawing/2014/main" id="{12F2EEBF-39C7-5F91-60E0-719B1CE9B9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5074429" y="1293275"/>
            <a:ext cx="5724938" cy="427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738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C46F-0A4A-2EEE-3EFD-E0F4E96E1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71E53-5F93-8F8B-4E91-AE77BEE58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Cleaned and prepared the dataset, including handling missing values, duplicates, and creating </a:t>
            </a:r>
            <a:r>
              <a:rPr lang="en-GB" b="1" dirty="0"/>
              <a:t>Age Group</a:t>
            </a:r>
            <a:r>
              <a:rPr lang="en-GB" dirty="0"/>
              <a:t>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Performed exploratory analysis to understand purchase </a:t>
            </a:r>
            <a:r>
              <a:rPr lang="en-GB" dirty="0" err="1"/>
              <a:t>behavior</a:t>
            </a:r>
            <a:r>
              <a:rPr lang="en-GB" dirty="0"/>
              <a:t>, ratings, previous purchases, subscription rates, and discount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Grouped customers by age and computed key metrics (</a:t>
            </a:r>
            <a:r>
              <a:rPr lang="en-GB" dirty="0" err="1"/>
              <a:t>avg</a:t>
            </a:r>
            <a:r>
              <a:rPr lang="en-GB" dirty="0"/>
              <a:t> purchase, rating, previous purchases, subscription rate, discount rate).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Created a correlation heatmap showing relationships between category-level features (As </a:t>
            </a:r>
            <a:r>
              <a:rPr lang="en-GB" b="1" dirty="0"/>
              <a:t>average age increases</a:t>
            </a:r>
            <a:r>
              <a:rPr lang="en-GB" dirty="0"/>
              <a:t>, the </a:t>
            </a:r>
            <a:r>
              <a:rPr lang="en-GB" b="1" dirty="0"/>
              <a:t>subscription rate tends to increase too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Applied K-means clustering and used </a:t>
            </a:r>
            <a:r>
              <a:rPr lang="en-GB" b="1" dirty="0"/>
              <a:t>Elbow Method</a:t>
            </a:r>
            <a:r>
              <a:rPr lang="en-GB" dirty="0"/>
              <a:t> + </a:t>
            </a:r>
            <a:r>
              <a:rPr lang="en-GB" b="1" dirty="0"/>
              <a:t>Silhouette Score</a:t>
            </a:r>
            <a:r>
              <a:rPr lang="en-GB" dirty="0"/>
              <a:t> → both indicated </a:t>
            </a:r>
            <a:r>
              <a:rPr lang="en-GB" b="1" dirty="0"/>
              <a:t>k = 2</a:t>
            </a:r>
            <a:r>
              <a:rPr lang="en-GB" dirty="0"/>
              <a:t> as the best cluster 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Visualized clusters and identified that </a:t>
            </a:r>
            <a:r>
              <a:rPr lang="en-GB" b="1" dirty="0"/>
              <a:t>46–55</a:t>
            </a:r>
            <a:r>
              <a:rPr lang="en-GB" dirty="0"/>
              <a:t> forms its own segment, while the rest behave similarly — helping define targeted marketing strategies.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7522275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1656</TotalTime>
  <Words>1622</Words>
  <Application>Microsoft Macintosh PowerPoint</Application>
  <PresentationFormat>Widescreen</PresentationFormat>
  <Paragraphs>350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Parcel</vt:lpstr>
      <vt:lpstr>Shopping Behaviour Analysis &amp; Customer Segmentation</vt:lpstr>
      <vt:lpstr>Project Overview</vt:lpstr>
      <vt:lpstr>Dataset Description</vt:lpstr>
      <vt:lpstr>Data Cleaning &amp; Preparation</vt:lpstr>
      <vt:lpstr>Summary statistics</vt:lpstr>
      <vt:lpstr>Summary Statistics</vt:lpstr>
      <vt:lpstr>Distribution of Purchase Amount</vt:lpstr>
      <vt:lpstr>Preprocessing the data (Creating Age Groups)</vt:lpstr>
      <vt:lpstr>Scatter Plot: Average Purchase Amount by Age Group</vt:lpstr>
      <vt:lpstr>Data preprocessing (Category-Level Aggregation0</vt:lpstr>
      <vt:lpstr>Category-Level Correlation Heatmap</vt:lpstr>
      <vt:lpstr>Data preprocessing (clustering)</vt:lpstr>
      <vt:lpstr>Elbow Method</vt:lpstr>
      <vt:lpstr>Silhouette Score</vt:lpstr>
      <vt:lpstr>Scatter Plot (k = 2 Clusters)</vt:lpstr>
      <vt:lpstr>Clustered Age Groups with Fitted Line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Leidman Ada</dc:creator>
  <cp:lastModifiedBy>Leidman Ada</cp:lastModifiedBy>
  <cp:revision>11</cp:revision>
  <dcterms:created xsi:type="dcterms:W3CDTF">2025-11-13T11:27:47Z</dcterms:created>
  <dcterms:modified xsi:type="dcterms:W3CDTF">2025-11-14T15:04:34Z</dcterms:modified>
</cp:coreProperties>
</file>